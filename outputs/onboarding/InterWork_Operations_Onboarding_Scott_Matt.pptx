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338c45fffc4931" /><Relationship Type="http://schemas.openxmlformats.org/officeDocument/2006/relationships/extended-properties" Target="/docProps/app.xml" Id="Rd6326f0b65034f87" /><Relationship Type="http://schemas.openxmlformats.org/officeDocument/2006/relationships/officeDocument" Target="/ppt/presentation.xml" Id="R0109685741df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c43a9a8b34c4a"/>
  </p:sldMasterIdLst>
  <p:notesMasterIdLst>
    <p:notesMasterId xmlns:r="http://schemas.openxmlformats.org/officeDocument/2006/relationships" r:id="R1a1700e076a84dce"/>
  </p:notesMasterIdLst>
  <p:sldIdLst>
    <p:sldId xmlns:r="http://schemas.openxmlformats.org/officeDocument/2006/relationships" id="256" r:id="Ra6a9a71b8c324aaf"/>
    <p:sldId xmlns:r="http://schemas.openxmlformats.org/officeDocument/2006/relationships" id="257" r:id="R6e7cfd05d0d846f9"/>
    <p:sldId xmlns:r="http://schemas.openxmlformats.org/officeDocument/2006/relationships" id="258" r:id="R6fc6df34bd6d492c"/>
    <p:sldId xmlns:r="http://schemas.openxmlformats.org/officeDocument/2006/relationships" id="259" r:id="Re5431b49550540b7"/>
    <p:sldId xmlns:r="http://schemas.openxmlformats.org/officeDocument/2006/relationships" id="260" r:id="Rc615ad7f40f94a97"/>
    <p:sldId xmlns:r="http://schemas.openxmlformats.org/officeDocument/2006/relationships" id="261" r:id="Rea84be8177084ce8"/>
    <p:sldId xmlns:r="http://schemas.openxmlformats.org/officeDocument/2006/relationships" id="262" r:id="R73519bfabf634915"/>
    <p:sldId xmlns:r="http://schemas.openxmlformats.org/officeDocument/2006/relationships" id="263" r:id="Rf7d2eed205594043"/>
    <p:sldId xmlns:r="http://schemas.openxmlformats.org/officeDocument/2006/relationships" id="264" r:id="Rb21ba4d171c84b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529a7b167a4270" /><Relationship Type="http://schemas.openxmlformats.org/officeDocument/2006/relationships/slideMaster" Target="/ppt/slideMasters/slideMaster1.xml" Id="R984c43a9a8b34c4a" /><Relationship Type="http://schemas.openxmlformats.org/officeDocument/2006/relationships/notesMaster" Target="/ppt/notesMasters/notesMaster1.xml" Id="R1a1700e076a84dce" /><Relationship Type="http://schemas.openxmlformats.org/officeDocument/2006/relationships/presProps" Target="/ppt/presProps.xml" Id="R5e9a3e2c2c06472d" /><Relationship Type="http://schemas.openxmlformats.org/officeDocument/2006/relationships/tableStyles" Target="/ppt/tableStyles.xml" Id="R47bc3ff09a5540bc" /><Relationship Type="http://schemas.openxmlformats.org/officeDocument/2006/relationships/slide" Target="/ppt/slides/slide1.xml" Id="Ra6a9a71b8c324aaf" /><Relationship Type="http://schemas.openxmlformats.org/officeDocument/2006/relationships/slide" Target="/ppt/slides/slide2.xml" Id="R6e7cfd05d0d846f9" /><Relationship Type="http://schemas.openxmlformats.org/officeDocument/2006/relationships/slide" Target="/ppt/slides/slide3.xml" Id="R6fc6df34bd6d492c" /><Relationship Type="http://schemas.openxmlformats.org/officeDocument/2006/relationships/slide" Target="/ppt/slides/slide4.xml" Id="Re5431b49550540b7" /><Relationship Type="http://schemas.openxmlformats.org/officeDocument/2006/relationships/slide" Target="/ppt/slides/slide5.xml" Id="Rc615ad7f40f94a97" /><Relationship Type="http://schemas.openxmlformats.org/officeDocument/2006/relationships/slide" Target="/ppt/slides/slide6.xml" Id="Rea84be8177084ce8" /><Relationship Type="http://schemas.openxmlformats.org/officeDocument/2006/relationships/slide" Target="/ppt/slides/slide7.xml" Id="R73519bfabf634915" /><Relationship Type="http://schemas.openxmlformats.org/officeDocument/2006/relationships/slide" Target="/ppt/slides/slide8.xml" Id="Rf7d2eed205594043" /><Relationship Type="http://schemas.openxmlformats.org/officeDocument/2006/relationships/slide" Target="/ppt/slides/slide9.xml" Id="Rb21ba4d171c84b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b04e8b19a041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78da011eb34346" /><Relationship Type="http://schemas.openxmlformats.org/officeDocument/2006/relationships/notesMaster" Target="/ppt/notesMasters/notesMaster1.xml" Id="R74e25c238c0f41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4a7b8a7d534d39" /><Relationship Type="http://schemas.openxmlformats.org/officeDocument/2006/relationships/notesMaster" Target="/ppt/notesMasters/notesMaster1.xml" Id="Rcd623db4e8a74c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7a1fb311e943ab" /><Relationship Type="http://schemas.openxmlformats.org/officeDocument/2006/relationships/notesMaster" Target="/ppt/notesMasters/notesMaster1.xml" Id="R603e3efff37e40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ac01ae9bd14d5e" /><Relationship Type="http://schemas.openxmlformats.org/officeDocument/2006/relationships/notesMaster" Target="/ppt/notesMasters/notesMaster1.xml" Id="Re36f77713cfd4a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18c71fdbc4441c" /><Relationship Type="http://schemas.openxmlformats.org/officeDocument/2006/relationships/notesMaster" Target="/ppt/notesMasters/notesMaster1.xml" Id="R724911abe9c143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dedbef29a74577" /><Relationship Type="http://schemas.openxmlformats.org/officeDocument/2006/relationships/notesMaster" Target="/ppt/notesMasters/notesMaster1.xml" Id="R56c04fe0515c49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9a09970e3c4a08" /><Relationship Type="http://schemas.openxmlformats.org/officeDocument/2006/relationships/notesMaster" Target="/ppt/notesMasters/notesMaster1.xml" Id="Rcd720bffecb949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2369b6404b4728" /><Relationship Type="http://schemas.openxmlformats.org/officeDocument/2006/relationships/notesMaster" Target="/ppt/notesMasters/notesMaster1.xml" Id="Rc0294245deaf42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b045b8d4cc43a9" /><Relationship Type="http://schemas.openxmlformats.org/officeDocument/2006/relationships/notesMaster" Target="/ppt/notesMasters/notesMaster1.xml" Id="R42415305eb0a47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Scott and Matt and explain that this is a practical introduction to how InterWork operates.</a:t>
            </a:r>
          </a:p>
          <a:p xmlns:a="http://schemas.openxmlformats.org/drawingml/2006/main">
            <a:r>
              <a:t>Set the expectation: business and workflow come before systems and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AtlantaProject_Presentation (4).pdf, slide 1.</a:t>
            </a:r>
          </a:p>
          <a:p xmlns:a="http://schemas.openxmlformats.org/drawingml/2006/main">
            <a:r>
              <a:t>- C:/Users/AlejandroAcosta/Documents/ai-workstation/docs/onboarding/operations_coordinator/README.md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InterWork as a commercial furniture moving, installation and project-coordination company.</a:t>
            </a:r>
          </a:p>
          <a:p xmlns:a="http://schemas.openxmlformats.org/drawingml/2006/main">
            <a:r>
              <a:t>Explain that clients are usually facilities and real-estate teams managing workplace change.</a:t>
            </a:r>
          </a:p>
          <a:p xmlns:a="http://schemas.openxmlformats.org/drawingml/2006/main">
            <a:r>
              <a:t>Use one personal example of a project that went well because coordination was strong.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C:/Users/AlejandroAcosta/Documents/ai-workstation/docs/onboarding/operations_coordinator/01_MODULE1_INTERWORK_FUNDAMENTALS.md</a:t>
            </a:r>
          </a:p>
          <a:p xmlns:a="http://schemas.openxmlformats.org/drawingml/2006/main">
            <a:r>
              <a:t>- AI-generated visual created for this deck; no external visual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each role using a current project example.</a:t>
            </a:r>
          </a:p>
          <a:p xmlns:a="http://schemas.openxmlformats.org/drawingml/2006/main">
            <a:r>
              <a:t>Account Manager owns the quote and client relationship. Office PM owns administrative coordination. Field PM leads execution.</a:t>
            </a:r>
          </a:p>
          <a:p xmlns:a="http://schemas.openxmlformats.org/drawingml/2006/main">
            <a:r>
              <a:t>Client and building contacts may be different people. Crew or vendor details remain internal in client-facing communication.</a:t>
            </a:r>
          </a:p>
          <a:p xmlns:a="http://schemas.openxmlformats.org/drawingml/2006/main">
            <a:r>
              <a:t>The project number connects every role and every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C:/Users/AlejandroAcosta/Documents/ai-workstation/docs/onboarding/operations_coordinator/01_MODULE1_INTERWORK_FUNDAMENTALS.md</a:t>
            </a:r>
          </a:p>
          <a:p xmlns:a="http://schemas.openxmlformats.org/drawingml/2006/main">
            <a:r>
              <a:t>- C:/Users/AlejandroAcosta/Documents/ai-workstation/memory/references/interwork_people_map.md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six stages in order.</a:t>
            </a:r>
          </a:p>
          <a:p xmlns:a="http://schemas.openxmlformats.org/drawingml/2006/main">
            <a:r>
              <a:t>Emphasize that scheduled does not mean fully confirmed.</a:t>
            </a:r>
          </a:p>
          <a:p xmlns:a="http://schemas.openxmlformats.org/drawingml/2006/main">
            <a:r>
              <a:t>FastField is submitted by the field PM after execution. Closeout includes the work-completion report and completion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C:/Users/AlejandroAcosta/Documents/ai-workstation/docs/onboarding/operations_coordinator/02_MODULE2_PROJECT_LIFECYCLE_AND_EXAMPLES.md</a:t>
            </a:r>
          </a:p>
          <a:p xmlns:a="http://schemas.openxmlformats.org/drawingml/2006/main">
            <a:r>
              <a:t>- C:/Users/AlejandroAcosta/Documents/ai-workstation/memory/company_knowledge/OPERATING_WORKFLOW.md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four examples as short stories, not detailed case studies.</a:t>
            </a:r>
          </a:p>
          <a:p xmlns:a="http://schemas.openxmlformats.org/drawingml/2006/main">
            <a:r>
              <a:t>Call out one coordination judgment from each: separate internal issues from client communication; use the latest confirmed scope; keep excluded scope excluded; resolve drawing/access discrepancies before field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C:/Users/AlejandroAcosta/Documents/ai-workstation/docs/onboarding/operations_coordinator/02_MODULE2_PROJECT_LIFECYCLE_AND_EXAMPLES.md</a:t>
            </a:r>
          </a:p>
          <a:p xmlns:a="http://schemas.openxmlformats.org/drawingml/2006/main">
            <a:r>
              <a:t>- AI-generated project collage created for this deck; no external visual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QuickQuo creates the quote and project number. Smartsheet is the schedule. Command Center displays Supabase. Supabase is operational truth. FastField captures field evidence.</a:t>
            </a:r>
          </a:p>
          <a:p xmlns:a="http://schemas.openxmlformats.org/drawingml/2006/main">
            <a:r>
              <a:t>Outlook and Teams are human communication tools. GitHub stores durable project memory. Claude helps research and draft, but does not replace operational judgment.</a:t>
            </a:r>
          </a:p>
          <a:p xmlns:a="http://schemas.openxmlformats.org/drawingml/2006/main">
            <a:r>
              <a:t>Do not teach passwords or administrative access on this slide; access is staged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C:/Users/AlejandroAcosta/Documents/ai-workstation/docs/onboarding/operations_coordinator/03_MODULE3_SYSTEMS_AND_SOURCES_OF_TRUTH.md</a:t>
            </a:r>
          </a:p>
          <a:p xmlns:a="http://schemas.openxmlformats.org/drawingml/2006/main">
            <a:r>
              <a:t>- C:/Users/AlejandroAcosta/Documents/ai-workstation/docs/onboarding/operations_coordinator/04_MODULE4_AI_AND_SHARED_KNOWLEDGE.md</a:t>
            </a:r>
          </a:p>
          <a:p xmlns:a="http://schemas.openxmlformats.org/drawingml/2006/main">
            <a:r>
              <a:t>- Supabase, GitHub and Anthropic marks: Simple Icons (cdn.jsdelivr.net/npm/simple-icons@v15).</a:t>
            </a:r>
          </a:p>
          <a:p xmlns:a="http://schemas.openxmlformats.org/drawingml/2006/main">
            <a:r>
              <a:t>- Teams and Outlook marks: Iconify icon catalog.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first AI-focused slide. Reinforce that the company and workflow were intentionally taught first.</a:t>
            </a:r>
          </a:p>
          <a:p xmlns:a="http://schemas.openxmlformats.org/drawingml/2006/main">
            <a:r>
              <a:t>Show the safe progression: find, understand, draft, review, preserve.</a:t>
            </a:r>
          </a:p>
          <a:p xmlns:a="http://schemas.openxmlformats.org/drawingml/2006/main">
            <a:r>
              <a:t>During onboarding, all sends and live writes remain routed through Alejandro. Week 2 determines any future authority individually.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C:/Users/AlejandroAcosta/Documents/ai-workstation/docs/onboarding/operations_coordinator/04_MODULE4_AI_AND_SHARED_KNOWLEDGE.md</a:t>
            </a:r>
          </a:p>
          <a:p xmlns:a="http://schemas.openxmlformats.org/drawingml/2006/main">
            <a:r>
              <a:t>- C:/Users/AlejandroAcosta/Documents/ai-workstation/memory/company_knowledge/ACCESS_AND_SAFETY_RULES.md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plan deliberately moves from context to systems to controlled work.</a:t>
            </a:r>
          </a:p>
          <a:p xmlns:a="http://schemas.openxmlformats.org/drawingml/2006/main">
            <a:r>
              <a:t>Scott and Matt will be evaluated separately even when working on the same scenario.</a:t>
            </a:r>
          </a:p>
          <a:p xmlns:a="http://schemas.openxmlformats.org/drawingml/2006/main">
            <a:r>
              <a:t>All external communications and live updates remain reviewed during onboarding.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C:/Users/AlejandroAcosta/Documents/ai-workstation/docs/onboarding/operations_coordinator/05_MODULE5_TRAINING_AGENDA.md</a:t>
            </a:r>
          </a:p>
          <a:p xmlns:a="http://schemas.openxmlformats.org/drawingml/2006/main">
            <a:r>
              <a:t>- C:/Users/AlejandroAcosta/Documents/ai-workstation/docs/onboarding/operations_coordinator/08_COMPETENCY_SIGNOFF_SCOTT.md</a:t>
            </a:r>
          </a:p>
          <a:p xmlns:a="http://schemas.openxmlformats.org/drawingml/2006/main">
            <a:r>
              <a:t>- C:/Users/AlejandroAcosta/Documents/ai-workstation/docs/onboarding/operations_coordinator/08_COMPETENCY_SIGNOFF_MATT.md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making success behavioral, not technical.</a:t>
            </a:r>
          </a:p>
          <a:p xmlns:a="http://schemas.openxmlformats.org/drawingml/2006/main">
            <a:r>
              <a:t>Invite questions and transition Scott and Matt to Module 1 and the detailed onboarding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C:/Users/AlejandroAcosta/Documents/ai-workstation/docs/onboarding/operations_coordinator/01_MODULE1_INTERWORK_FUNDAMENTALS.md</a:t>
            </a:r>
          </a:p>
          <a:p xmlns:a="http://schemas.openxmlformats.org/drawingml/2006/main">
            <a:r>
              <a:t>- C:/Users/AlejandroAcosta/Documents/ai-workstation/docs/onboarding/operations_coordinator/05_MODULE5_TRAINING_AGENDA.md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5764a218543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695f5e9cc74beb" /><Relationship Type="http://schemas.openxmlformats.org/officeDocument/2006/relationships/slideLayout" Target="/ppt/slideLayouts/slideLayout1.xml" Id="Rbba6206a2082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a6206a2082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19492e20046ba" /><Relationship Type="http://schemas.openxmlformats.org/officeDocument/2006/relationships/image" Target="/ppt/media/image.png" Id="R5e420ee28ae34912" /><Relationship Type="http://schemas.openxmlformats.org/officeDocument/2006/relationships/notesSlide" Target="/ppt/notesSlides/notesSlide1.xml" Id="R5cdfcb258f19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dc722f50146dd" /><Relationship Type="http://schemas.openxmlformats.org/officeDocument/2006/relationships/image" Target="/ppt/media/image2.png" Id="R2abd7671003a4225" /><Relationship Type="http://schemas.openxmlformats.org/officeDocument/2006/relationships/notesSlide" Target="/ppt/notesSlides/notesSlide2.xml" Id="Rcb6c2dd8e39545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bfa5643d742f8" /><Relationship Type="http://schemas.openxmlformats.org/officeDocument/2006/relationships/notesSlide" Target="/ppt/notesSlides/notesSlide3.xml" Id="R323a29b4c3734c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7d20c6fa94edb" /><Relationship Type="http://schemas.openxmlformats.org/officeDocument/2006/relationships/notesSlide" Target="/ppt/notesSlides/notesSlide4.xml" Id="Rf492d60004fa44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876c4e67041b7" /><Relationship Type="http://schemas.openxmlformats.org/officeDocument/2006/relationships/image" Target="/ppt/media/image3.png" Id="R581cc3c4d0034708" /><Relationship Type="http://schemas.openxmlformats.org/officeDocument/2006/relationships/image" Target="/ppt/media/image4.png" Id="R0b2271fa16824b93" /><Relationship Type="http://schemas.openxmlformats.org/officeDocument/2006/relationships/image" Target="/ppt/media/image5.png" Id="R3069383dccba4b5a" /><Relationship Type="http://schemas.openxmlformats.org/officeDocument/2006/relationships/image" Target="/ppt/media/image6.png" Id="Rf779c7fd8fc3405a" /><Relationship Type="http://schemas.openxmlformats.org/officeDocument/2006/relationships/notesSlide" Target="/ppt/notesSlides/notesSlide5.xml" Id="R8e8db7e08d3e45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72819c9794645" /><Relationship Type="http://schemas.openxmlformats.org/officeDocument/2006/relationships/image" Target="/ppt/media/image7.png" Id="R6bbe634fdada42f0" /><Relationship Type="http://schemas.openxmlformats.org/officeDocument/2006/relationships/image" Target="/ppt/media/image8.png" Id="R4c30e0f0e4724501" /><Relationship Type="http://schemas.openxmlformats.org/officeDocument/2006/relationships/image" Target="/ppt/media/image9.png" Id="Re9b1f16181724088" /><Relationship Type="http://schemas.openxmlformats.org/officeDocument/2006/relationships/image" Target="/ppt/media/image10.png" Id="Rc33f627610484f09" /><Relationship Type="http://schemas.openxmlformats.org/officeDocument/2006/relationships/image" Target="/ppt/media/image11.png" Id="R5bed0d9aaad34214" /><Relationship Type="http://schemas.openxmlformats.org/officeDocument/2006/relationships/notesSlide" Target="/ppt/notesSlides/notesSlide6.xml" Id="R685a65dea7ee45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4b040f3a04935" /><Relationship Type="http://schemas.openxmlformats.org/officeDocument/2006/relationships/notesSlide" Target="/ppt/notesSlides/notesSlide7.xml" Id="R80a7b633823c45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dcc33b2144468" /><Relationship Type="http://schemas.openxmlformats.org/officeDocument/2006/relationships/notesSlide" Target="/ppt/notesSlides/notesSlide8.xml" Id="Refa062d767b040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666cd0b474dd6" /><Relationship Type="http://schemas.openxmlformats.org/officeDocument/2006/relationships/notesSlide" Target="/ppt/notesSlides/notesSlide9.xml" Id="Raf750c90305a47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20ee28ae34912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3332E-779C-4CA3-A783-859CD957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4825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2A2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B8788-E986-415B-8AAC-332DEE63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WELCOME, SCOTT + MATT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FDEEA-EA6C-450D-A871-CCB342FC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Operations Coordinator 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30260-BF12-48F2-B493-F44F8801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DCDD"/>
                </a:solidFill>
              </a:defRPr>
            </a:pPr>
            <a:r>
              <a:rPr sz="1275" b="0">
                <a:solidFill>
                  <a:srgbClr val="F2DCDD"/>
                </a:solidFill>
              </a:rPr>
              <a:t>Learn the business. Master the workflow. Own the outcome.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E7B66-AC60-480E-AA32-F9A5405E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578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6475264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d7671003a422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31C1F-CDA9-4025-B9C4-86FB0BA9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2A2F">
              <a:alpha val="86275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406ED-C2E4-4947-8875-B594F472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WE MAKE WORKPLACE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CHANGE HAPPEN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7B898-C5BC-42AC-9D0F-E4DA2ED2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05025"/>
            <a:ext cx="3857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From planning to closeout, InterWork coordinates the people, places and details that keep projects moving.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31A59-8AA6-4787-8278-50F610B7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C6ACD-F5B7-43A7-BB01-283CE4A2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DCDD"/>
                </a:solidFill>
              </a:defRPr>
            </a:pPr>
            <a:r>
              <a:rPr sz="1200" b="0">
                <a:solidFill>
                  <a:srgbClr val="F2DCDD"/>
                </a:solidFill>
              </a:rPr>
              <a:t>Relocations + restacks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A10DF-8681-4A92-A5F4-A9D9CD2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REMOVE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E0555-5576-4C69-8726-F0E83A1C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52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DCDD"/>
                </a:solidFill>
              </a:defRPr>
            </a:pPr>
            <a:r>
              <a:rPr sz="1200" b="0">
                <a:solidFill>
                  <a:srgbClr val="F2DCDD"/>
                </a:solidFill>
              </a:rPr>
              <a:t>Decommissions + disposal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F1704-E464-45AE-98E7-D35E9CDA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03CB8-984E-43E9-8D8A-C1DAD6F7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72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DCDD"/>
                </a:solidFill>
              </a:defRPr>
            </a:pPr>
            <a:r>
              <a:rPr sz="1200" b="0">
                <a:solidFill>
                  <a:srgbClr val="F2DCDD"/>
                </a:solidFill>
              </a:rPr>
              <a:t>Furniture + service calls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C9B36-4AC2-44C2-90A2-D3FC6E60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BEE97-F243-4E86-AE35-0C06DDA8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91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DCDD"/>
                </a:solidFill>
              </a:defRPr>
            </a:pPr>
            <a:r>
              <a:rPr sz="1200" b="0">
                <a:solidFill>
                  <a:srgbClr val="F2DCDD"/>
                </a:solidFill>
              </a:rPr>
              <a:t>Field evidence + closeout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EF75E-B192-44C3-B9FE-58B8AF6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» INTERWORK  OFFICE SOLUTIONS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62E12-AE69-493C-92E5-BD01F0BD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2DCDD"/>
                </a:solidFill>
              </a:defRPr>
            </a:pPr>
            <a:r>
              <a:rPr sz="900" b="1">
                <a:solidFill>
                  <a:srgbClr val="F2DCDD"/>
                </a:solidFill>
              </a:rPr>
              <a:t>THE 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C4325-1C20-4151-ACE2-EA596DF0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06478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C44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7B9494-E62E-4D4F-9E2E-0EBCAA27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-19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8D2BE-C091-48DB-B81E-F9186913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9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00FC8-7F88-4DE9-8661-370F3941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809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6C91D-091E-4EA4-8BBF-83ADBC1C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809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3DF87-9A39-4DBD-9A14-0A9BB8A3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3810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115AB-E4F0-4D0E-9E7A-7E6AD412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4810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BFFC8-5046-408C-A8ED-91A099F0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58102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0EA42-503E-41BA-97BA-32E15AA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8103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530BA-8A4C-409F-AEA0-79514DC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81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0C49D-CE2E-403D-BA01-FDF0A596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810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B3B6B-7098-4EF5-B0A5-8855189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9810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FAF41-B686-43CD-B839-97394A17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0810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45734-BC42-4473-B3FC-464AB248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1811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9225A-A7EB-40D7-9460-B6C0BA1E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2811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623A8-A3F0-4B63-98F8-26BB68FE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-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8C90C-6628-4B39-8003-DE6440CA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95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8064A-404E-42E0-8840-C4D9857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12763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F3FEA-4FE4-484C-B06C-530780DD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0574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1001A-A9A6-439D-942D-5117EC50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838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F2797-836D-49A9-8AD8-65DF6CE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36195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48552-B854-4151-9250-4FDC36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40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83A27-4102-4D60-8161-3A46DDD7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181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15480-5B8B-4FDC-8B97-7AFA779B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9626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F732F-06C7-4F0B-861A-974A7354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67437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0E3876-D666-4E53-93EF-72299E71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EVERY PROJECT IS A TEAM 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A5E4BF-B1B8-4E4A-8694-E93E8413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DCDD"/>
                </a:solidFill>
              </a:defRPr>
            </a:pPr>
            <a:r>
              <a:rPr sz="1350" b="0">
                <a:solidFill>
                  <a:srgbClr val="F2DCDD"/>
                </a:solidFill>
              </a:rPr>
              <a:t>Clear ownership keeps information, commitments and field execution aligned.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290DC-9D2F-4BAB-BC1F-BF1753F3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52775"/>
            <a:ext cx="9944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B96D6-A2A0-46F6-9D15-6FCFDF9A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43125"/>
            <a:ext cx="28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A9FFF-BC61-41AC-BB2A-64E9DD9D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28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8FD2D-CF0A-464D-A0FB-941376BA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43125"/>
            <a:ext cx="28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1705D7-6617-4CE3-9717-0DDA5C74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28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75625-A82B-487A-AEAD-99D20C40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43125"/>
            <a:ext cx="28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6FD075-2311-4FEB-B27E-99CB5F2C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17907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34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A9BECC-8A58-4C09-9951-161386E3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241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DA46AC-8891-4B4E-BDC1-A395146D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C136EE-C83C-4A58-832D-387FB6C9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29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2DCDD"/>
                </a:solidFill>
              </a:defRPr>
            </a:pPr>
            <a:r>
              <a:rPr sz="975" b="0">
                <a:solidFill>
                  <a:srgbClr val="F2DCDD"/>
                </a:solidFill>
              </a:rPr>
              <a:t>one shared identifier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F79EF0-85DF-4653-B55F-3D99C936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002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3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E930F0-E5F0-43FE-A4A9-6DC061F5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28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95D7F7-AC07-481E-B8C6-029821CC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Account Manager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2F031E-CAC6-4A70-ACF7-BCE245DC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2DCDD"/>
                </a:solidFill>
              </a:defRPr>
            </a:pPr>
            <a:r>
              <a:rPr sz="975" b="0">
                <a:solidFill>
                  <a:srgbClr val="F2DCDD"/>
                </a:solidFill>
              </a:rPr>
              <a:t>Quote + client relationship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EA6BFF-22B3-40ED-8906-A78B13CC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61AA14-5A0A-407A-82E8-F6DAB750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05318B-5287-4BB7-9E4C-AED609D2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Office PM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7C44CE-0CAA-4BB6-B554-3D656A98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2DCDD"/>
                </a:solidFill>
              </a:defRPr>
            </a:pPr>
            <a:r>
              <a:rPr sz="975" b="0">
                <a:solidFill>
                  <a:srgbClr val="F2DCDD"/>
                </a:solidFill>
              </a:rPr>
              <a:t>Schedule + coordination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C1D0EC-D506-4A9C-8888-BADA95F4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002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A56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B8722A-46E3-44DB-9C6C-A0FB605D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28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9E7F21-D47E-4B39-AFEB-00A6502F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Field PM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706FC0-6750-40C3-B2EA-63084DC4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337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2DCDD"/>
                </a:solidFill>
              </a:defRPr>
            </a:pPr>
            <a:r>
              <a:rPr sz="975" b="0">
                <a:solidFill>
                  <a:srgbClr val="F2DCDD"/>
                </a:solidFill>
              </a:rPr>
              <a:t>On-site execution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E4ACB4-9E26-4B06-8C8D-B79A36C0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4C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474CE2-18FE-4802-80F4-8DC0DD53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POC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DA113F-6D00-43BB-9E16-84886CC6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Client / Building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E1A3DC-8782-4777-9371-0C3E6ED2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2DCDD"/>
                </a:solidFill>
              </a:defRPr>
            </a:pPr>
            <a:r>
              <a:rPr sz="975" b="0">
                <a:solidFill>
                  <a:srgbClr val="F2DCDD"/>
                </a:solidFill>
              </a:rPr>
              <a:t>Access + decisions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156AE6-4746-4F9D-8FE5-26EE3DCF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291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303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43FDDB-D2FA-4B19-830E-07AD0085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577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50579C-5927-46D8-B88C-AA2D6CB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8864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Crew / Partner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0DC7E0-983A-4392-829C-C3A9FCF6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6267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2DCDD"/>
                </a:solidFill>
              </a:defRPr>
            </a:pPr>
            <a:r>
              <a:rPr sz="975" b="0">
                <a:solidFill>
                  <a:srgbClr val="F2DCDD"/>
                </a:solidFill>
              </a:rPr>
              <a:t>Physical work + evidence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CAB446-C30B-4496-8045-ED813DBB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95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SCOTT + MATT: OPERATIONS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BC11AD-4C3A-4F05-8AE9-6EBD390F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495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FRANCISCO: FIELD ESCALATION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25C321-7D71-4A1E-BCD9-E777A18E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» INTERWORK  OFFICE SOLUTIONS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57EAAB8-4872-42B5-B762-479F9AC2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2DCDD"/>
                </a:solidFill>
              </a:defRPr>
            </a:pPr>
            <a:r>
              <a:rPr sz="900" b="1">
                <a:solidFill>
                  <a:srgbClr val="F2DCDD"/>
                </a:solidFill>
              </a:rPr>
              <a:t>WHO IS WHO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ABE1C4-EE0E-410C-ADE5-B9C4AAD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9480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C44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FDC835-2593-439B-A31B-89D3EBB7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-19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1070D-A389-41B0-AC97-A07C99B4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9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1B675-0C6E-42CC-B13F-AF52D542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809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8B839-3A8D-4B27-941F-1492BBF1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809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D0385-74F0-4D04-AAA2-A4267DEE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3810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1C76D-93A8-4753-B6C4-D397358D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4810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EB508-00BE-46C6-B039-74284D69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58102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85560-4C9D-4873-B53A-2D83544D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8103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B7D1D-AA17-43F6-A659-73FE5BE0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81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10CCE-F871-4D85-87AC-3425BE9C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810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E24BA-D075-4FE2-8219-1976B882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9810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B49A8-FC99-49D2-9B37-86AC7DEE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0810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E88A0-9645-46DC-A3C6-615D3D53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1811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4162A-D2D4-4DB6-8626-FDD9501C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2811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50A03-E231-4EDD-9053-A5D8B1C6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-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D72CC-4AC6-44C1-BADC-8E3BB02F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95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546CA-24A5-400B-B56E-FF4C6DF5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12763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783B3-5B55-41BD-BB55-F837FBAF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0574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E0EE5-E9F1-43D0-87AA-0F48334B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838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36C25-DA01-4AF1-A2AC-A7976B9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36195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D5C53-D2D7-42F7-A3E9-6B78E640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40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0E9B7-E3E9-4281-A840-38CBF84F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181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9F2A8-5B82-4087-9932-55322485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9626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A8506-3D4E-4814-9093-D25B5931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67437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34FE1-4900-4D3C-A080-853FAE1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ONE PROJECT NUMBER. SIX CONTROL POINTS.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EFB440-203D-417C-8152-CDF5EFA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DCDD"/>
                </a:solidFill>
              </a:defRPr>
            </a:pPr>
            <a:r>
              <a:rPr sz="1350" b="0">
                <a:solidFill>
                  <a:srgbClr val="F2DCDD"/>
                </a:solidFill>
              </a:rPr>
              <a:t>The workflow protects the client experience before, during and after execution.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B858A-8F53-42E3-988C-05D53189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86100"/>
            <a:ext cx="53340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3B61DC-986D-4051-AC20-7E316384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086100"/>
            <a:ext cx="53340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4D68E-E999-4AEC-AE32-086F29E9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86100"/>
            <a:ext cx="53340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281C6E-962C-4229-810B-F18DAC5B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86100"/>
            <a:ext cx="53340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6DE73F-FD01-426D-BE6B-22FA7040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86100"/>
            <a:ext cx="53340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B45619-41A4-4626-9AEA-A8CBAC61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3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AE74B9-329F-4564-A3C3-B96D5ED0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431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3DA39A-147F-4086-8112-C000D91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E38B9A-3CA8-4805-A3ED-6E58677F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719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Scope + project number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204898-E4BD-44F0-B846-BD704E5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431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8CE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55BF8B-A2E8-4FD7-B3FB-EF323C45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31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53FF0E-431C-4319-9EC9-1AAE167F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7FFC23-CBC7-4E0B-B129-E35EA940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9719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Calendar + record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180BA3-9E58-47BD-80C7-75CC88DD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4C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912B3D-AD15-4B7F-A173-AA15B945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431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C90868-51C2-4A39-9431-5A52074B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ASSIGN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6F5C82-0493-4579-8DA1-C620DA7E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719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Office PM + field team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8AC93C-020E-4FF3-A0AB-F9884CE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431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B53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17377E-F509-4D51-A79E-5BE6BCA8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431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7BAF0A-BB4A-4FDF-9F46-663355BA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4E8699-E2FF-4B95-A8F6-43377D7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719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Client + access + crew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2888BA-E121-4644-AFF5-0124FCF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A56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EE80DA-DE45-401A-AC56-B4DA04A1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9FF0D8-C6BC-4C7A-BDCC-3137D283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EXECUTE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8D5428-DF09-4A6D-9EB7-4A37A21E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719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Field PM + FastField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BBB9CB-B8CC-4D39-A69D-5B043CF0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4315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3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8AE08D-0C04-40D3-A219-7CE8E5F1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4317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8260BE-8862-4CD5-9C6E-15BB4DBD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03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CLOSE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24CF80-0275-4D02-84D8-4A25E8E8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9719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WC report + completion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9D0FEF-3CFD-42B9-81C9-C786172C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38725"/>
            <a:ext cx="880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CONFIRMED FACTS MOVE FORWARD. OPEN QUESTIONS STAY VISIBLE.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1E0C56-4353-4217-9182-832571BA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» INTERWORK  OFFICE SOLUTIONS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5D97E1-03DC-4312-8E50-84406621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2DCDD"/>
                </a:solidFill>
              </a:defRPr>
            </a:pPr>
            <a:r>
              <a:rPr sz="900" b="1">
                <a:solidFill>
                  <a:srgbClr val="F2DCDD"/>
                </a:solidFill>
              </a:rPr>
              <a:t>THE WORKFLOW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2EA8A5-BAE1-4686-9997-BA5B2B5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351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C44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9B5BBE-A43E-498D-972C-D35F2B28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-19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EC924-A6A1-4A4F-BE94-D185580D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9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442D1-92F0-47E0-92D2-2FA2EF1A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809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D5E18-5B0F-4CCE-948A-DABBC4D5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809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7A039-6639-4EE2-B1E1-9C94D4A2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3810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38534-14CB-4435-821C-296EBE24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4810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294CD-DB4F-4DA6-8BD9-0157AD4B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58102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2A6E0-A663-4273-BE16-A2780C56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8103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2C2EA-A8CA-48A5-8530-B66E340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81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29D64-928D-4948-9BA2-9932B8C5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810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17E2C-7ECE-408C-9949-71BBFCA4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9810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85ECF-1A72-4745-90A2-9FB5B08D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0810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C42C4-EAE4-4004-A8E7-C008F54F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1811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0AE33-D127-4B97-BB3D-2C7907EB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2811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882F8-4622-4DD0-9057-1571CD9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-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AA7C9-5F8F-4EB9-AA30-AAA847F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95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F77DC-252E-405D-BFEA-CC9968E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12763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51F92-36C7-4719-9762-9032ED90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0574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BB3D2-8F4D-4CE7-B6A7-56E0D229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838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90CED-2976-4524-90BF-CFD9E6D2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36195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55AE1-EDF4-4FAE-88C5-7AFEF473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40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49EF3-0AEC-4466-BBD2-966E3F7B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181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F5326-D9F6-44BB-9648-BF8581C3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9626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04C7B-A958-4EDA-9969-DB1C86F1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67437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F8BC1-B418-4128-9E7A-DFAB8F3D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WORK CHANGES. THE COORDINATION DISCIPLINE DOESN'T.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9FDB9-143D-47E4-9920-1CEE5043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DCDD"/>
                </a:solidFill>
              </a:defRPr>
            </a:pPr>
            <a:r>
              <a:rPr sz="1350" b="0">
                <a:solidFill>
                  <a:srgbClr val="F2DCDD"/>
                </a:solidFill>
              </a:rPr>
              <a:t>Four project types show the range Scott and Matt will learn to manage.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cc3c4d0034708"/>
          <a:srcRect xmlns:a="http://schemas.openxmlformats.org/drawingml/2006/main" l="28553" t="0" r="285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" y="1571625"/>
            <a:ext cx="2686050" cy="35242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CF8AF-D621-4F1D-8D42-97721A43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57675"/>
            <a:ext cx="26860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8F2A2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4EAD6-472F-4D1A-AD56-807CF54D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DECOMMISSION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B69CB-66DE-4E9A-BF15-08D1AD7B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DCDD"/>
                </a:solidFill>
              </a:defRPr>
            </a:pPr>
            <a:r>
              <a:rPr sz="1050" b="0">
                <a:solidFill>
                  <a:srgbClr val="F2DCDD"/>
                </a:solidFill>
              </a:rPr>
              <a:t>Remove + recycle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26F971-6AAD-4252-BDF6-B8BF3E00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#7492</a:t>
            </a:r>
          </a:p>
        </p:txBody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271fa16824b93"/>
          <a:srcRect xmlns:a="http://schemas.openxmlformats.org/drawingml/2006/main" l="28553" t="0" r="285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1571625"/>
            <a:ext cx="2686050" cy="35242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E3BB16-6008-4DD8-B0CF-F1E34B84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57675"/>
            <a:ext cx="26860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8F2A2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43F3C-6294-4B3C-9600-B17EB12F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291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RELOCATION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51B8C3-8833-4504-8FA6-C77A34E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33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DCDD"/>
                </a:solidFill>
              </a:defRPr>
            </a:pPr>
            <a:r>
              <a:rPr sz="1050" b="0">
                <a:solidFill>
                  <a:srgbClr val="F2DCDD"/>
                </a:solidFill>
              </a:rPr>
              <a:t>Move + reinstall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369882-9861-4FE9-BB40-D710B58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#7350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9383dccba4b5a"/>
          <a:srcRect xmlns:a="http://schemas.openxmlformats.org/drawingml/2006/main" l="28553" t="0" r="285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71625"/>
            <a:ext cx="2686050" cy="35242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3AA85D-02DD-4E5C-8A73-A010210E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26860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8F2A2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0358C9-739F-4D12-973D-0C8125B0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291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E-WASTE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F3444A-1547-4CE4-8D78-32F6C47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33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DCDD"/>
                </a:solidFill>
              </a:defRPr>
            </a:pPr>
            <a:r>
              <a:rPr sz="1050" b="0">
                <a:solidFill>
                  <a:srgbClr val="F2DCDD"/>
                </a:solidFill>
              </a:rPr>
              <a:t>Sort + dispose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B9C3FD-14D4-424C-904D-B33BDE81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720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#7594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9c7fd8fc3405a"/>
          <a:srcRect xmlns:a="http://schemas.openxmlformats.org/drawingml/2006/main" l="28553" t="0" r="285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7800" y="1571625"/>
            <a:ext cx="2686050" cy="352425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FB6037-D81F-4CD5-9EF5-258554AB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26860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8F2A2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D91F75-410D-48E4-89DB-25C2FAED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INSTALLATION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E1F7A8-93C1-48C4-BBC1-02CD72C0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339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DCDD"/>
                </a:solidFill>
              </a:defRPr>
            </a:pPr>
            <a:r>
              <a:rPr sz="1050" b="0">
                <a:solidFill>
                  <a:srgbClr val="F2DCDD"/>
                </a:solidFill>
              </a:rPr>
              <a:t>Deliver + complete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A64BE1-3C7A-415C-9F83-ADDCBE0C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5720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#7547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0F832B-8CB5-416E-9C64-663469BE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86400"/>
            <a:ext cx="996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Different scope. Same habits: verify • confirm • communicate • document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A7E27D-ED7D-424B-BF30-B5636263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» INTERWORK  OFFICE SOLUTIONS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6AC3F3-ECF3-4A09-818A-DABF62D4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2DCDD"/>
                </a:solidFill>
              </a:defRPr>
            </a:pPr>
            <a:r>
              <a:rPr sz="900" b="1">
                <a:solidFill>
                  <a:srgbClr val="F2DCDD"/>
                </a:solidFill>
              </a:rPr>
              <a:t>PROJECT EXAMPLES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F0901C-7B01-4451-A309-09E09606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3677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C44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DF3108-CB2B-4D40-82B2-96AAC2E9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-19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676CD-2994-4479-8C3F-CC1C3427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9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5A28C-A283-4530-9A68-D6CC631D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809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67294-2B00-4C9F-A529-5D2F034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809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DB31C-D14C-4A6A-B9E7-BB01C9C8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3810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64300-EB88-4FE9-B41C-63AF47A4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4810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9A6B4-D103-49B6-B942-E823A17A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58102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825E0-0C46-49CC-83F6-10F4E861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8103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6E682-F35E-46EA-80E9-AD4ABA6E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81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CB4F9-2209-407F-A0DF-4359988B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810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09B0C-0E6B-4871-9F00-B72FC3A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9810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E9636-B1B7-4B4F-B7B1-7FE52CC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0810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B0E63-A738-4874-B852-C5C54A02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1811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25A8F-3F42-4EA1-9F33-399D2E3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2811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D75D2-FDF1-4F1E-BB99-DBE655E5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-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2794E-8089-4768-9CA4-00E0B39D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95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69CD5-F320-493D-97D2-B94B5D6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12763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7EFBD-EB7F-4F93-B5B7-6B8E129A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0574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AD729-78A5-4060-AFE7-0479FB5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838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C904D-3B26-4AD3-B3B3-FDFAF8F0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36195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CFB8C-A241-4581-9511-F0CAF074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40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68F78-8D99-4CAF-A102-525F3094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181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601FA-CD93-4CB6-8BC9-C0E6F396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9626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8A887-B364-453B-AEC4-E1B5D0D8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67437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1B37AF-FDA9-463A-96A6-DF6E52D1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EACH SYSTEM HAS ONE CLEAR JOB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F0A33-DF4C-467C-9F25-46592880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2DCDD"/>
                </a:solidFill>
              </a:defRPr>
            </a:pPr>
            <a:r>
              <a:rPr sz="1350" b="0">
                <a:solidFill>
                  <a:srgbClr val="F2DCDD"/>
                </a:solidFill>
              </a:rPr>
              <a:t>Scott and Matt will learn what to trust, where to work and when to escalate.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276E1-88DF-4023-AA98-E36659FA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5143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CF5B6C-7A75-4C79-BD77-AE86E9E4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5143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9791D-804F-405B-8062-CBD9FC4F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5143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58239C-4B59-4635-A4AE-D677FC9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5143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7BD74-1BBA-4E30-9E72-256A055C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2D19C8-6B82-43FB-A9A4-2A7C8605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EE367-C24E-42B4-993B-FED49874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F2A29-3E4E-4A37-B11A-DF710471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575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QuickQuo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4CCB2C-F093-44F7-8BE9-CB41052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051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Quote + project #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8BDBE4-017F-4C97-854E-6C6187F4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4DBB60-75B3-4817-9010-8450AE4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43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91159C-0486-4475-843C-ABE35478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FDB106-3240-4A59-A094-64AA819F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575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Smartsheet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1A51B5-8ED2-4E0A-9D6A-E979057A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051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Schedule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324452-92F7-44C7-8E96-BF3A418F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542584-44C4-4DBA-AB88-290DC4C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43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493B6E-7E68-4BF6-99DA-FE8F2090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86B258-E793-49F9-9D0E-871A22DC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575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Command Center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AE5227-0935-403C-A910-DE237FF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051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Operational 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0328A1-26CA-4B20-B15C-1EB9C912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e634fdada42f0"/>
          <a:stretch xmlns:a="http://schemas.openxmlformats.org/drawingml/2006/main"/>
        </p:blipFill>
        <p:spPr>
          <a:xfrm xmlns:a="http://schemas.openxmlformats.org/drawingml/2006/main">
            <a:off x="7334250" y="23812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CB737F-BDF2-48D2-9D1B-89720C2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575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Supabase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516656-EC7A-42EB-9216-5D339AD0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051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Operational truth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CA39F3-7A01-4AA1-87D3-8501AEA6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0F8475-2BC1-49B1-ADAB-56859DA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A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470A4C-E2FF-4D2D-9FC9-72EA4E41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8615CD-C433-49ED-A877-B0F74113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5752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FastField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552F84-79E8-41A6-AB0F-B115BF3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0517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Field evidence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5AB57D-D1B5-4E7A-A886-B4207DA0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0e0f0e4724501"/>
          <a:stretch xmlns:a="http://schemas.openxmlformats.org/drawingml/2006/main"/>
        </p:blipFill>
        <p:spPr>
          <a:xfrm xmlns:a="http://schemas.openxmlformats.org/drawingml/2006/main">
            <a:off x="2571750" y="4572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9CC514-C814-47F4-BD3D-751A969C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482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Outlook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C97942-68CF-4C1A-AAB7-994A60EF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95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Client communication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CC80AE-AEBF-49D2-83F8-1B3365FB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815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1f16181724088"/>
          <a:stretch xmlns:a="http://schemas.openxmlformats.org/drawingml/2006/main"/>
        </p:blipFill>
        <p:spPr>
          <a:xfrm xmlns:a="http://schemas.openxmlformats.org/drawingml/2006/main">
            <a:off x="4648200" y="4572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314445-5681-498C-92AC-57D4484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482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Teams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E480A1-AC27-4BAA-8BF0-A5FCB923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95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Internal coordination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F2C718-9A45-4ECA-9EB3-2A165AF0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f627610484f09"/>
          <a:stretch xmlns:a="http://schemas.openxmlformats.org/drawingml/2006/main"/>
        </p:blipFill>
        <p:spPr>
          <a:xfrm xmlns:a="http://schemas.openxmlformats.org/drawingml/2006/main">
            <a:off x="6724650" y="4572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434058-C2D2-471A-97A0-6888E892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482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FDA39F-7838-428B-8236-606F71FF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95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Shared memory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AAF232-6F5F-4303-B7F9-C2EA8BFC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d0d9aaad34214"/>
          <a:stretch xmlns:a="http://schemas.openxmlformats.org/drawingml/2006/main"/>
        </p:blipFill>
        <p:spPr>
          <a:xfrm xmlns:a="http://schemas.openxmlformats.org/drawingml/2006/main">
            <a:off x="8801100" y="45720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F3E710-1B89-4163-B90B-6CD41DA1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482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4C2442-BADC-4A30-9A11-200CC40E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959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2DCDD"/>
                </a:solidFill>
              </a:defRPr>
            </a:pPr>
            <a:r>
              <a:rPr sz="900" b="0">
                <a:solidFill>
                  <a:srgbClr val="F2DCDD"/>
                </a:solidFill>
              </a:rPr>
              <a:t>Research + drafting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BA20F9-55A0-43F1-8BAA-7E3D69CC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» INTERWORK  OFFICE SOLUTIONS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6086B4-862E-448C-B9D5-67324F0A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2DCDD"/>
                </a:solidFill>
              </a:defRPr>
            </a:pPr>
            <a:r>
              <a:rPr sz="900" b="1">
                <a:solidFill>
                  <a:srgbClr val="F2DCDD"/>
                </a:solidFill>
              </a:rPr>
              <a:t>SYSTEMS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113349-9BBE-43BF-8F59-D25886B9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1659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6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876D79-E94C-4F8F-A4CF-A2370DE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-19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DD027-F247-4313-8DBC-FBDAFFF3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9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AFB78-7D08-47ED-8562-737067B6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809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E79AE-25FB-41ED-B086-E1D8EE9A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809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C5FA3-E46B-4235-ADE1-AADF9CB2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3810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8D023-44BC-476D-BFD0-5D2C8C04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4810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D666B-6B8D-4568-9EDF-911C0155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58102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C3829-9695-4A7C-B0C6-D7639A26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8103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747C2-EA59-497E-9F00-55166780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81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86942-B48A-4D2C-A5D5-CCC0D73C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810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B9A11-DD73-4F5A-A99D-75692C4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9810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86D34-8235-4729-939C-115AC998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0810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BF449-08E6-491B-B9E9-E3E9031D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1811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95D4E-C80B-4004-BB0A-E64C720E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2811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D521E-66C3-475A-9D29-769EB045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-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A9C5C-2837-483E-8F2E-9DCC48CA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95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7ABF3-36DD-4AA9-BB58-ABD0D0B0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12763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DAE3E-4E67-4B2C-B2AD-24090A47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0574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AE459-4206-4D30-85E7-C9B0178B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838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5A868-3ECA-4530-8781-6B0087D5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36195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CE4ED-C630-4D41-9163-02BC02D6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40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6B0F6-7A0C-45B7-BD0B-C387D20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181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743B7-BA64-40C6-ADB1-695D39BD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9626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BEC89-D2DA-466A-AE46-D97AE87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67437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2C0C9-AD01-4C8D-9A50-256E55E1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COMES AFTER THE FUNDAMENTALS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57C57F-A0C0-443D-8646-AD01D82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D5E3"/>
                </a:solidFill>
              </a:defRPr>
            </a:pPr>
            <a:r>
              <a:rPr sz="1350" b="1">
                <a:solidFill>
                  <a:srgbClr val="C7D5E3"/>
                </a:solidFill>
              </a:rPr>
              <a:t>It helps Scott and Matt find, prepare and preserve the work—not guess or bypass the workflow.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AD431-06A1-4BA3-BC27-AC68875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952625" cy="24003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1176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7B77E-45FE-4968-8293-28B0E52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8B303-1AA0-45BE-9306-A27FBC93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B6D719-C842-438E-A7B8-B6690C9C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5484F-5029-4860-9B90-C0772F26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609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D5E3"/>
                </a:solidFill>
              </a:defRPr>
            </a:pPr>
            <a:r>
              <a:rPr sz="1125" b="1">
                <a:solidFill>
                  <a:srgbClr val="C7D5E3"/>
                </a:solidFill>
              </a:rPr>
              <a:t>Project number first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98539F-E62E-431D-8F7B-DDDCA85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952625" cy="24003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117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09F7AB-76B8-4273-8468-C22FA43C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4C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79FD7-F34A-4FA1-9BF0-C5BB8BBA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77C3E7-9A7E-4D51-BBE6-3D183637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3852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UNDERSTAND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80DA4A-5609-49EA-9814-EC64355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1609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D5E3"/>
                </a:solidFill>
              </a:defRPr>
            </a:pPr>
            <a:r>
              <a:rPr sz="1125" b="1">
                <a:solidFill>
                  <a:srgbClr val="C7D5E3"/>
                </a:solidFill>
              </a:rPr>
              <a:t>Live state + project 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76E6FF-2F2A-4C8C-B1EB-7B832212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90750"/>
            <a:ext cx="1952625" cy="24003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1176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3FA80B-8C28-4A41-A226-7EF2879A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3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C15E1B-7690-45D4-B557-84ED7385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479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F6D870-2823-4765-B470-13953E77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3852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988492-F44C-4558-A29A-4FA98C7D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48100"/>
            <a:ext cx="1609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D5E3"/>
                </a:solidFill>
              </a:defRPr>
            </a:pPr>
            <a:r>
              <a:rPr sz="1125" b="1">
                <a:solidFill>
                  <a:srgbClr val="C7D5E3"/>
                </a:solidFill>
              </a:rPr>
              <a:t>Briefs, emails and dispatches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0AF838-E53D-4903-9A81-542B7783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90750"/>
            <a:ext cx="1952625" cy="24003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1176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CF461D-8DDA-4B28-9EAD-31E5FC19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56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952B5E-F6D7-421A-88F4-4EBF0E6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069EEE-0567-4153-A254-7AD144BA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3852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41214C-3A89-4975-8673-4E21B580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48100"/>
            <a:ext cx="1609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D5E3"/>
                </a:solidFill>
              </a:defRPr>
            </a:pPr>
            <a:r>
              <a:rPr sz="1125" b="1">
                <a:solidFill>
                  <a:srgbClr val="C7D5E3"/>
                </a:solidFill>
              </a:rPr>
              <a:t>Human judgment before action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06C242-8475-45B7-981D-B6CB3059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90750"/>
            <a:ext cx="1952625" cy="2400300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1176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8C6391-A93C-48B2-8451-13B722D1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A5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443EE3-C01D-4C20-9851-D2BB7051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479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1C8DDE-471E-4B5C-BD35-301C2C45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38525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PRESERVE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44BA5D-DB9D-4B23-A910-61390B76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48100"/>
            <a:ext cx="1609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D5E3"/>
                </a:solidFill>
              </a:defRPr>
            </a:pPr>
            <a:r>
              <a:rPr sz="1125" b="1">
                <a:solidFill>
                  <a:srgbClr val="C7D5E3"/>
                </a:solidFill>
              </a:rPr>
              <a:t>Update shared project memory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AA5D92-D38D-4A0B-A8B6-36F465E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816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DRAFT FREELY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4F1059-65AD-446F-A890-20E9D02F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81600"/>
            <a:ext cx="558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C16C"/>
                </a:solidFill>
              </a:defRPr>
            </a:pPr>
            <a:r>
              <a:rPr sz="1575" b="1">
                <a:solidFill>
                  <a:srgbClr val="F3C16C"/>
                </a:solidFill>
              </a:rPr>
              <a:t>SEND / WRITE ONLY AFTER APPROVAL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BF7DE7-30F7-4F3B-A8B0-60DF0E8A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9595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D5E3"/>
                </a:solidFill>
              </a:defRPr>
            </a:pPr>
            <a:r>
              <a:rPr sz="1200" b="1">
                <a:solidFill>
                  <a:srgbClr val="C7D5E3"/>
                </a:solidFill>
              </a:rPr>
              <a:t>No invented facts • No secrets in chat • No silent conflict resolution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3D4219-BB40-45CB-A9D8-80FD00CF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» INTERWORK  OFFICE SOLUTIONS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9965B9-7753-4171-B1C2-55F98F1E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2DCDD"/>
                </a:solidFill>
              </a:defRPr>
            </a:pPr>
            <a:r>
              <a:rPr sz="900" b="1">
                <a:solidFill>
                  <a:srgbClr val="F2DCDD"/>
                </a:solidFill>
              </a:rPr>
              <a:t>SHARED KNOWLEDGE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AAC23C-EF54-4E77-97E8-4627FFA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3963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44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272D01-72B2-4635-80ED-759B09D3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-19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DBC9A-3129-44DB-B10C-388AADB9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9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7E81D-9FA2-44ED-A1BE-264AF1C0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809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FAEB6-324C-4DC2-8BE7-326A5254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809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AF672-6581-4DC7-8FD4-F534DD95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3810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6AE4D-B368-420E-863B-D595B40C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4810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49537-0DAB-4A86-A728-DF9D6631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58102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EB991-15CA-4086-BEBF-833BF444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8103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8CFDC-4F36-46DE-9F08-403EA948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81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B90C5-9EAA-4505-AEC8-8130B8BB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810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F0BBC-54E6-4BC2-B5FF-35BAA8CE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9810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336CD-03E5-47C1-9829-9C3F8E89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0810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868F4-310A-42B8-81FB-8D804881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1811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EECB7-1AEC-4A82-B8A4-4EC89119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2811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64BDA-89BD-4895-85A7-68EF853A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-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D7824-5471-4235-A253-03254740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95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620E4-6BAF-4267-BEC3-39DA5FB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12763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2E31B-416A-40DD-9CD3-01CC51C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0574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8F1EF-827B-49E3-A111-7047D8E8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838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F37DC-C26A-4253-97EA-437417A9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36195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920BF-E8A7-4562-AE33-9EAD7503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40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3DBD3-994D-4156-9C39-F9649FC3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181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C5A6F-5BAA-4EE7-8864-C1A5E7DB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9626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5543B-004A-4F5C-8847-FEE32E69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67437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EF148-E78F-4167-BED5-F238C186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TWO WEEKS: FROM CONTEXT TO CONTROLLED OWNERSHIP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E21770-8714-4AD5-92DA-8D634810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DCDD"/>
                </a:solidFill>
              </a:defRPr>
            </a:pPr>
            <a:r>
              <a:rPr sz="1350" b="1">
                <a:solidFill>
                  <a:srgbClr val="F2DCDD"/>
                </a:solidFill>
              </a:rPr>
              <a:t>Scott and Matt train together, practice independently and earn trust individually.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5744F-DA21-47EA-A6BD-0B53157A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858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387B28-BCB2-49E9-A65F-CE36322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3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3D81F-7592-4B26-B460-5A690CBC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02B17-309B-4B41-88A9-B389643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9716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DAY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280F1F-F488-40F4-A830-05FEC1CE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924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D04F63-A817-4049-83DF-DCEBBFC4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42957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What we do + who is who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D6847D-9EAC-47C3-8306-E6D7E0D6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4C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AD373-2156-4EA3-B4C5-675FD8C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384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093B99-310F-4804-9B66-5E8AAE65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9716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DAY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6D9EE7-5770-47E2-AC1C-1D4EA31F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924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F779F9-D996-42EA-93DE-A852AE28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2957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Lifecycle + real examples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CD2472-461E-4F4E-B5AA-61124DE5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81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7F818A-45D0-457D-82CC-D8039199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384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86DD89-D45D-4B3C-A52D-276350F2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716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DAY 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5A9F18-00F8-4EE5-87C2-9A41638B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24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SYSTEMS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C82C86-4248-4E46-9CB2-8DF975E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957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Sources of truth + 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C30D3D-872F-45CE-8CB5-4B9BDE9D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A56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50EE3C-2A18-48F9-BF02-D9853EE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384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065025-93AA-4951-8A35-28584766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716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DAYS 4–7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46000A-C38C-4F7C-B99F-7FAE7843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924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DC19A6-5C0E-4E27-856A-44522FDF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957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Watch → do → reverse shadow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F20B06-43A4-434A-AF80-1E68B77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81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3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8C44B8-20CD-4AD6-82FB-F88CE57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384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8259AE-534B-4417-9666-C8E0B7EC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716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DAYS 8–10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62D810-F74B-492D-A8C9-05319E0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924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OWNERSHIP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742365-F1DB-4857-8AD6-3E771FE3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957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DCDD"/>
                </a:solidFill>
              </a:defRPr>
            </a:pPr>
            <a:r>
              <a:rPr sz="1125" b="1">
                <a:solidFill>
                  <a:srgbClr val="F2DCDD"/>
                </a:solidFill>
              </a:rPr>
              <a:t>Small portfolio + review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9B8E5E-22D0-433B-AA60-4A121A73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72771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8F2A2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5FA8A8-F445-4FDE-86D5-A48F8A0B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410200"/>
            <a:ext cx="687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DAY 10: INDIVIDUAL COMPETENCY + AUTHORITY DECISION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7CBE79-A7F7-483E-A644-D323DB04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» INTERWORK  OFFICE SOLUTIONS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0778E1-76C0-4791-9B88-35FC34E5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2DCDD"/>
                </a:solidFill>
              </a:defRPr>
            </a:pPr>
            <a:r>
              <a:rPr sz="900" b="1">
                <a:solidFill>
                  <a:srgbClr val="F2DCDD"/>
                </a:solidFill>
              </a:rPr>
              <a:t>TRAINING PLAN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A1FF40-B703-4769-B3FA-2B0B10AE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1615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C447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4B25BA-758F-4438-9BF4-6C463FB1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-19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904ED-AD7D-4FB3-A2CF-4EACC884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09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D6555-E309-49E2-9E0D-B74DE2D9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809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5F075-768E-49EE-B269-438B9ECA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2809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CB23D-0682-498E-9D40-DF91227E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3810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FE5EA-D942-4C71-979D-81B09AB2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4810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95103-F8F1-4977-893F-6EBDE988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58102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6020D-AD55-4598-A3AC-4325ACC2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68103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31D27-4586-4E82-84F7-748A50FC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78105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7C5E5-98B4-402F-8E2D-6C98953F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8106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7A756-D40D-487B-8D9A-5783F7DC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98107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B0466-31BB-434A-8810-D2BEE5DC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081087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3184C-66E3-4078-80F9-19AC4F01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181100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A2375-F93B-4C46-B690-801A9C5D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12811125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E90C2-4596-4EBB-9016-F8338C9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-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0A243-70F1-47EA-B2CD-AF3C2897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953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758C2-C8DE-4EF4-B935-F3A5FE62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12763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5FA6A-C3E1-4989-BDB3-09F06E91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0574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AC61C-8B7B-4BB5-9752-FDBA1284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28384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31FCA-EF0A-46C1-A659-0380D1EA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36195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B0ED8-483C-46DC-A70A-205B8EF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44005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397D4-CDDF-4BBC-9E99-4832C261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181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D73AC-ED13-4C89-969A-A7B3D563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59626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BDD06-9AB8-4EF5-8881-A8711F6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0" y="67437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A4D3C5-BA74-4536-8285-327D32FD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SUCCESS LOOKS LIKE...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2E6DD-98B7-4797-BCA1-2FB2CC1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0A8AA-F9D4-4D63-B58C-9276C115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2C735D-C81D-4FD8-9383-D6DF5D68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FIND THE TRUTH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4C82F-35B2-4EB1-907B-2CB38DC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C40F5-9AC5-4E0B-B4C9-E9A92837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1143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93ABCC-7D12-4D07-8A0F-CF1AC67C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CONFIRM THE DETAILS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E27285-16C0-45CC-B190-FE56CC1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2E0397-B3E7-40A1-9F63-72394F93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1143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3BD812-DF87-41B1-918A-C8AAD0C2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COMMUNICATE CLEARLY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76257E-EC9C-4192-AD91-1F505C4E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842526-BC30-4458-BCE3-3724A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143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30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3FE897-39E0-4251-BF41-7A258233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PROTECT THE CLIENT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C48D7-C0FA-4A80-A544-F3840C0B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D99B8E-120E-4B2A-8894-BFC1AF4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1143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A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349B96-5CF5-41AD-AD5C-1877F08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290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ESCALATE EARLY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9BE5FA-B96C-4CD7-BC0A-15110DD2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2952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08A190-FBE2-43FD-97C6-DCA37495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143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E6AE13-10E0-4C62-BB87-6783F6E8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290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LEAVE A CLEAN HANDOFF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2B9390-005D-4910-AF5B-EA016514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76825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Learn the business first. The systems will help you execute it.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C51063-1C6E-487B-8305-6D629117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912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DCDD"/>
                </a:solidFill>
              </a:defRPr>
            </a:pPr>
            <a:r>
              <a:rPr sz="1725" b="1">
                <a:solidFill>
                  <a:srgbClr val="F2DCDD"/>
                </a:solidFill>
              </a:rPr>
              <a:t>WELCOME TO INTERWORK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F5EC19-C852-4BC0-A65D-8706FB4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» INTERWORK  OFFICE SOLUTIONS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F0CFEF-AC84-457F-96A7-4515C43C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1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2DCDD"/>
                </a:solidFill>
              </a:defRPr>
            </a:pPr>
            <a:r>
              <a:rPr sz="900" b="1">
                <a:solidFill>
                  <a:srgbClr val="F2DCDD"/>
                </a:solidFill>
              </a:rPr>
              <a:t>READY TO BEGIN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9CD7E6-F3AE-4582-AC72-FE6D9535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7496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2026-07-28T19:41:26.3950000Z</dcterms:created>
  <dcterms:modified xsi:type="dcterms:W3CDTF">2026-07-28T19:41:26.3950000Z</dcterms:modified>
</coreProperties>
</file>